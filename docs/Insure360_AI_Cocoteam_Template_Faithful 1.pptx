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054096"/>
            <a:ext cx="12191695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00BFF3"/>
          </a:solidFill>
          <a:ln w="12700">
            <a:solidFill>
              <a:srgbClr val="00BF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3832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729"/>
                </a:solidFill>
              </a:rPr>
              <a:t>Insure360 AI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67512" y="38862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8FC4"/>
                </a:solidFill>
              </a:rPr>
              <a:t>Unified Customer 360 &amp; Next Best Action Copilot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7512" y="43434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36471"/>
                </a:solidFill>
              </a:rPr>
              <a:t>Structured + unstructured insurance intelligence powered by Snowflake Cortex AI and Streamlit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52360" y="33649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729"/>
                </a:solidFill>
              </a:rPr>
              <a:t>TEAM NAME 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53728" y="33467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2729"/>
                </a:solidFill>
              </a:rPr>
              <a:t>Cocoteam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52360" y="39319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729"/>
                </a:solidFill>
              </a:rPr>
              <a:t>TEAM LEADER NAME 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253728" y="39136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2729"/>
                </a:solidFill>
              </a:rPr>
              <a:t>Manideep Marka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2360" y="44988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729"/>
                </a:solidFill>
              </a:rPr>
              <a:t>TEAM SIZE 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53728" y="44805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2729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52360" y="506577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729"/>
                </a:solidFill>
              </a:rPr>
              <a:t>PROBLEM STATEMENT 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53728" y="50474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02729"/>
                </a:solidFill>
              </a:rPr>
              <a:t>Customer 360 &amp; Next Best Action Copilot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7512" y="62453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471"/>
                </a:solidFill>
              </a:rPr>
              <a:t>Cocoteam  |  Manideep Marka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BFF3"/>
          </a:solidFill>
          <a:ln w="12700">
            <a:solidFill>
              <a:srgbClr val="00BFF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A judge-ready view of the problem, solution, innovation and outcome.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1828800"/>
            <a:ext cx="267004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" y="1828800"/>
            <a:ext cx="64008" cy="2057400"/>
          </a:xfrm>
          <a:prstGeom prst="rect">
            <a:avLst/>
          </a:prstGeom>
          <a:solidFill>
            <a:srgbClr val="DB5B5B"/>
          </a:solidFill>
          <a:ln w="12700">
            <a:solidFill>
              <a:srgbClr val="DB5B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975104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B5B5B"/>
                </a:solidFill>
              </a:rPr>
              <a:t>PROBLEM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3232" y="22585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Fragmented context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274320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Agents switch across policy, claims, payment and interaction records before deciding how to respond.</a:t>
            </a:r>
            <a:endParaRPr lang="en-US" sz="117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67004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2" name="Shape 9"/>
          <p:cNvSpPr/>
          <p:nvPr/>
        </p:nvSpPr>
        <p:spPr>
          <a:xfrm>
            <a:off x="3383280" y="1828800"/>
            <a:ext cx="64008" cy="2057400"/>
          </a:xfrm>
          <a:prstGeom prst="rect">
            <a:avLst/>
          </a:prstGeom>
          <a:solidFill>
            <a:srgbClr val="118FC4"/>
          </a:solidFill>
          <a:ln w="12700">
            <a:solidFill>
              <a:srgbClr val="118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975104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18FC4"/>
                </a:solidFill>
              </a:rPr>
              <a:t>SOLUTION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566160" y="22585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One workspace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274320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Insure360 AI consolidates customer context and AI-assisted insights in Streamlit.</a:t>
            </a:r>
            <a:endParaRPr lang="en-US" sz="1170" dirty="0"/>
          </a:p>
        </p:txBody>
      </p:sp>
      <p:sp>
        <p:nvSpPr>
          <p:cNvPr id="16" name="Shape 13"/>
          <p:cNvSpPr/>
          <p:nvPr/>
        </p:nvSpPr>
        <p:spPr>
          <a:xfrm>
            <a:off x="6236208" y="1828800"/>
            <a:ext cx="267004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7" name="Shape 14"/>
          <p:cNvSpPr/>
          <p:nvPr/>
        </p:nvSpPr>
        <p:spPr>
          <a:xfrm>
            <a:off x="6236208" y="1828800"/>
            <a:ext cx="64008" cy="2057400"/>
          </a:xfrm>
          <a:prstGeom prst="rect">
            <a:avLst/>
          </a:prstGeom>
          <a:solidFill>
            <a:srgbClr val="1C9A77"/>
          </a:solidFill>
          <a:ln w="12700">
            <a:solidFill>
              <a:srgbClr val="1C9A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9088" y="1975104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9A77"/>
                </a:solidFill>
              </a:rPr>
              <a:t>INNOVATION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19088" y="22585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Structured + unstructured AI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19088" y="274320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Cortex AI converts transcripts and operational data into sentiment, summaries, Q&amp;A and recommendations.</a:t>
            </a:r>
            <a:endParaRPr lang="en-US" sz="1170" dirty="0"/>
          </a:p>
        </p:txBody>
      </p:sp>
      <p:sp>
        <p:nvSpPr>
          <p:cNvPr id="21" name="Shape 18"/>
          <p:cNvSpPr/>
          <p:nvPr/>
        </p:nvSpPr>
        <p:spPr>
          <a:xfrm>
            <a:off x="9089136" y="1828800"/>
            <a:ext cx="25786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22" name="Shape 19"/>
          <p:cNvSpPr/>
          <p:nvPr/>
        </p:nvSpPr>
        <p:spPr>
          <a:xfrm>
            <a:off x="9089136" y="1828800"/>
            <a:ext cx="64008" cy="2057400"/>
          </a:xfrm>
          <a:prstGeom prst="rect">
            <a:avLst/>
          </a:prstGeom>
          <a:solidFill>
            <a:srgbClr val="E8A11A"/>
          </a:solidFill>
          <a:ln w="12700">
            <a:solidFill>
              <a:srgbClr val="E8A1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72016" y="19751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11A"/>
                </a:solidFill>
              </a:rPr>
              <a:t>OUTCOME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272016" y="225856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Insight to action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72016" y="274320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Agents move from portfolio signals to Customer 360, Next Best Action and approval.</a:t>
            </a:r>
            <a:endParaRPr lang="en-US" sz="1170" dirty="0"/>
          </a:p>
        </p:txBody>
      </p:sp>
      <p:sp>
        <p:nvSpPr>
          <p:cNvPr id="26" name="Shape 23"/>
          <p:cNvSpPr/>
          <p:nvPr/>
        </p:nvSpPr>
        <p:spPr>
          <a:xfrm>
            <a:off x="530352" y="4297680"/>
            <a:ext cx="11137392" cy="1280160"/>
          </a:xfrm>
          <a:prstGeom prst="roundRect">
            <a:avLst/>
          </a:prstGeom>
          <a:solidFill>
            <a:srgbClr val="07131E"/>
          </a:solidFill>
          <a:ln w="12700">
            <a:solidFill>
              <a:srgbClr val="0713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45811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5DD4F4"/>
                </a:solidFill>
              </a:rPr>
              <a:t>ONE-LINE PITCH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395728" y="4489704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Understand the customer faster. Explain what matters. Take the next best action.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2395728" y="50749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2D1F2"/>
                </a:solidFill>
              </a:rPr>
              <a:t>Customer 360  •  Cortex AI  •  Sentiment  •  Next Best Action  •  Approval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1. Problem Brief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Why insurance service teams need a unified, decision-ready customer view.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874520"/>
            <a:ext cx="5577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0391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B5B5B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20391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B5B5B"/>
                </a:solidFill>
              </a:rPr>
              <a:t>SEARCH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67712" y="1993392"/>
            <a:ext cx="3547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729"/>
                </a:solidFill>
              </a:rPr>
              <a:t>Customer details are distributed across operational views.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5577840" cy="603504"/>
          </a:xfrm>
          <a:prstGeom prst="roundRect">
            <a:avLst/>
          </a:prstGeom>
          <a:solidFill>
            <a:srgbClr val="F7FAFB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834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B5B5B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8346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B5B5B"/>
                </a:solidFill>
              </a:rPr>
              <a:t>ASSEMBLE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67712" y="2788920"/>
            <a:ext cx="3547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729"/>
                </a:solidFill>
              </a:rPr>
              <a:t>Agents manually connect policy, claim, payment and interaction context.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465576"/>
            <a:ext cx="55778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3630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B5B5B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36301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B5B5B"/>
                </a:solidFill>
              </a:rPr>
              <a:t>INTERPRET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67712" y="3584448"/>
            <a:ext cx="3547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729"/>
                </a:solidFill>
              </a:rPr>
              <a:t>Call transcripts are difficult to consume during a live decision.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4261104"/>
            <a:ext cx="5577840" cy="603504"/>
          </a:xfrm>
          <a:prstGeom prst="roundRect">
            <a:avLst/>
          </a:prstGeom>
          <a:solidFill>
            <a:srgbClr val="F7FAFB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44256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B5B5B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44256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B5B5B"/>
                </a:solidFill>
              </a:rPr>
              <a:t>DECIDE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267712" y="4379976"/>
            <a:ext cx="3547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729"/>
                </a:solidFill>
              </a:rPr>
              <a:t>Action selection depends on individual interpretation.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510528" y="1874520"/>
            <a:ext cx="5074920" cy="3337560"/>
          </a:xfrm>
          <a:prstGeom prst="roundRect">
            <a:avLst/>
          </a:prstGeom>
          <a:solidFill>
            <a:srgbClr val="EFF8FB"/>
          </a:solidFill>
          <a:ln w="12700">
            <a:solidFill>
              <a:srgbClr val="BFE5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30568" y="21762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18FC4"/>
                </a:solidFill>
              </a:rPr>
              <a:t>THE OPPORTUNITY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30568" y="258775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729"/>
                </a:solidFill>
              </a:rPr>
              <a:t>Make customer context immediately usable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830568" y="32552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6471"/>
                </a:solidFill>
              </a:rPr>
              <a:t>Connect what happened, why it matters and what the agent should do next.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39712" y="40507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729"/>
                </a:solidFill>
              </a:rPr>
              <a:t>✓  Unified customer history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39712" y="4443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729"/>
                </a:solidFill>
              </a:rPr>
              <a:t>✓  Explainable AI-assisted insight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839712" y="48371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9A77"/>
                </a:solidFill>
              </a:rPr>
              <a:t>✓  Repeatable next-action workflow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2. Solution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Monitor → Understand → Assist → Act.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920240"/>
            <a:ext cx="244144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7" name="Shape 4"/>
          <p:cNvSpPr/>
          <p:nvPr/>
        </p:nvSpPr>
        <p:spPr>
          <a:xfrm>
            <a:off x="1353312" y="2221992"/>
            <a:ext cx="822960" cy="822960"/>
          </a:xfrm>
          <a:prstGeom prst="ellipse">
            <a:avLst/>
          </a:prstGeom>
          <a:solidFill>
            <a:srgbClr val="118FC4"/>
          </a:solidFill>
          <a:ln w="12700">
            <a:solidFill>
              <a:srgbClr val="118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53312" y="2450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331012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8FC4"/>
                </a:solidFill>
              </a:rPr>
              <a:t>MONITOR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3730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36471"/>
                </a:solidFill>
              </a:rPr>
              <a:t>Portfolio risk, overdue payments, claims and renewals.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10712" y="1920240"/>
            <a:ext cx="244144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2" name="Shape 9"/>
          <p:cNvSpPr/>
          <p:nvPr/>
        </p:nvSpPr>
        <p:spPr>
          <a:xfrm>
            <a:off x="4215384" y="2221992"/>
            <a:ext cx="822960" cy="822960"/>
          </a:xfrm>
          <a:prstGeom prst="ellipse">
            <a:avLst/>
          </a:prstGeom>
          <a:solidFill>
            <a:srgbClr val="1C9A77"/>
          </a:solidFill>
          <a:ln w="12700">
            <a:solidFill>
              <a:srgbClr val="1C9A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15384" y="2450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639312" y="331012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9A77"/>
                </a:solidFill>
              </a:rPr>
              <a:t>UNDERSTAND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66744" y="3730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36471"/>
                </a:solidFill>
              </a:rPr>
              <a:t>Customer 360 with policies, claims, payments and timeline.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72784" y="1920240"/>
            <a:ext cx="244144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7" name="Shape 14"/>
          <p:cNvSpPr/>
          <p:nvPr/>
        </p:nvSpPr>
        <p:spPr>
          <a:xfrm>
            <a:off x="7077456" y="2221992"/>
            <a:ext cx="822960" cy="822960"/>
          </a:xfrm>
          <a:prstGeom prst="ellipse">
            <a:avLst/>
          </a:prstGeom>
          <a:solidFill>
            <a:srgbClr val="07131E"/>
          </a:solidFill>
          <a:ln w="12700">
            <a:solidFill>
              <a:srgbClr val="0713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77456" y="2450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501384" y="331012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31E"/>
                </a:solidFill>
              </a:rPr>
              <a:t>ASSIST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28816" y="3730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36471"/>
                </a:solidFill>
              </a:rPr>
              <a:t>Sentiment, summary, executive brief and Q&amp;A.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134856" y="1920240"/>
            <a:ext cx="244144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22" name="Shape 19"/>
          <p:cNvSpPr/>
          <p:nvPr/>
        </p:nvSpPr>
        <p:spPr>
          <a:xfrm>
            <a:off x="9939528" y="2221992"/>
            <a:ext cx="822960" cy="822960"/>
          </a:xfrm>
          <a:prstGeom prst="ellipse">
            <a:avLst/>
          </a:prstGeom>
          <a:solidFill>
            <a:srgbClr val="E8A11A"/>
          </a:solidFill>
          <a:ln w="12700">
            <a:solidFill>
              <a:srgbClr val="E8A1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39528" y="2450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4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9363456" y="331012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11A"/>
                </a:solidFill>
              </a:rPr>
              <a:t>ACT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90888" y="3730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36471"/>
                </a:solidFill>
              </a:rPr>
              <a:t>Next Best Action, approval and follow-up.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600200" y="5239512"/>
            <a:ext cx="9006840" cy="603504"/>
          </a:xfrm>
          <a:prstGeom prst="roundRect">
            <a:avLst/>
          </a:prstGeom>
          <a:solidFill>
            <a:srgbClr val="07131E"/>
          </a:solidFill>
          <a:ln w="12700">
            <a:solidFill>
              <a:srgbClr val="0713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74520" y="5422392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One workspace. One customer story. One informed next step.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3.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A modular Snowflake flow from data sources to agent action.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" y="1856232"/>
            <a:ext cx="196596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7" name="Shape 4"/>
          <p:cNvSpPr/>
          <p:nvPr/>
        </p:nvSpPr>
        <p:spPr>
          <a:xfrm>
            <a:off x="438912" y="1856232"/>
            <a:ext cx="1965960" cy="91440"/>
          </a:xfrm>
          <a:prstGeom prst="rect">
            <a:avLst/>
          </a:prstGeom>
          <a:solidFill>
            <a:srgbClr val="118FC4"/>
          </a:solidFill>
          <a:ln w="12700">
            <a:solidFill>
              <a:srgbClr val="118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4712" y="2240280"/>
            <a:ext cx="594360" cy="594360"/>
          </a:xfrm>
          <a:prstGeom prst="rect">
            <a:avLst/>
          </a:prstGeom>
          <a:solidFill>
            <a:srgbClr val="118FC4"/>
          </a:solidFill>
          <a:ln>
            <a:solidFill>
              <a:srgbClr val="118FC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6072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18FC4"/>
                </a:solidFill>
              </a:rPr>
              <a:t>DATA SOURCES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621792" y="3493008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Customers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Policies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Claims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Payments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Transcripts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2852928" y="1856232"/>
            <a:ext cx="1965960" cy="3310128"/>
          </a:xfrm>
          <a:prstGeom prst="roundRect">
            <a:avLst/>
          </a:prstGeom>
          <a:solidFill>
            <a:srgbClr val="F7FAFB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2" name="Shape 9"/>
          <p:cNvSpPr/>
          <p:nvPr/>
        </p:nvSpPr>
        <p:spPr>
          <a:xfrm>
            <a:off x="2852928" y="1856232"/>
            <a:ext cx="1965960" cy="91440"/>
          </a:xfrm>
          <a:prstGeom prst="rect">
            <a:avLst/>
          </a:prstGeom>
          <a:solidFill>
            <a:srgbClr val="1C9A77"/>
          </a:solidFill>
          <a:ln w="12700">
            <a:solidFill>
              <a:srgbClr val="1C9A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38728" y="2240280"/>
            <a:ext cx="594360" cy="594360"/>
          </a:xfrm>
          <a:prstGeom prst="rect">
            <a:avLst/>
          </a:prstGeom>
          <a:solidFill>
            <a:srgbClr val="1C9A77"/>
          </a:solidFill>
          <a:ln>
            <a:solidFill>
              <a:srgbClr val="1C9A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990088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C9A77"/>
                </a:solidFill>
              </a:rPr>
              <a:t>UNIFIED LAYER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3035808" y="3493008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Customer 360 views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Entity joins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Timeline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Risk signals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266944" y="1856232"/>
            <a:ext cx="196596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7" name="Shape 14"/>
          <p:cNvSpPr/>
          <p:nvPr/>
        </p:nvSpPr>
        <p:spPr>
          <a:xfrm>
            <a:off x="5266944" y="1856232"/>
            <a:ext cx="1965960" cy="91440"/>
          </a:xfrm>
          <a:prstGeom prst="rect">
            <a:avLst/>
          </a:prstGeom>
          <a:solidFill>
            <a:srgbClr val="07131E"/>
          </a:solidFill>
          <a:ln w="12700">
            <a:solidFill>
              <a:srgbClr val="0713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52744" y="2240280"/>
            <a:ext cx="594360" cy="594360"/>
          </a:xfrm>
          <a:prstGeom prst="rect">
            <a:avLst/>
          </a:prstGeom>
          <a:solidFill>
            <a:srgbClr val="07131E"/>
          </a:solidFill>
          <a:ln>
            <a:solidFill>
              <a:srgbClr val="07131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04104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7131E"/>
                </a:solidFill>
              </a:rPr>
              <a:t>CORTEX AI</a:t>
            </a:r>
            <a:endParaRPr lang="en-US" sz="1130" dirty="0"/>
          </a:p>
        </p:txBody>
      </p:sp>
      <p:sp>
        <p:nvSpPr>
          <p:cNvPr id="20" name="Text 17"/>
          <p:cNvSpPr/>
          <p:nvPr/>
        </p:nvSpPr>
        <p:spPr>
          <a:xfrm>
            <a:off x="5449824" y="3493008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Sentiment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Summary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Executive brief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Q&amp;A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680960" y="1856232"/>
            <a:ext cx="1965960" cy="3310128"/>
          </a:xfrm>
          <a:prstGeom prst="roundRect">
            <a:avLst/>
          </a:prstGeom>
          <a:solidFill>
            <a:srgbClr val="F7FAFB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22" name="Shape 19"/>
          <p:cNvSpPr/>
          <p:nvPr/>
        </p:nvSpPr>
        <p:spPr>
          <a:xfrm>
            <a:off x="7680960" y="1856232"/>
            <a:ext cx="1965960" cy="91440"/>
          </a:xfrm>
          <a:prstGeom prst="rect">
            <a:avLst/>
          </a:prstGeom>
          <a:solidFill>
            <a:srgbClr val="E8A11A"/>
          </a:solidFill>
          <a:ln w="12700">
            <a:solidFill>
              <a:srgbClr val="E8A1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66760" y="2240280"/>
            <a:ext cx="594360" cy="594360"/>
          </a:xfrm>
          <a:prstGeom prst="rect">
            <a:avLst/>
          </a:prstGeom>
          <a:solidFill>
            <a:srgbClr val="E8A11A"/>
          </a:solidFill>
          <a:ln>
            <a:solidFill>
              <a:srgbClr val="E8A1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81812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E8A11A"/>
                </a:solidFill>
              </a:rPr>
              <a:t>BUSINESS LOGIC</a:t>
            </a:r>
            <a:endParaRPr lang="en-US" sz="1130" dirty="0"/>
          </a:p>
        </p:txBody>
      </p:sp>
      <p:sp>
        <p:nvSpPr>
          <p:cNvPr id="25" name="Text 22"/>
          <p:cNvSpPr/>
          <p:nvPr/>
        </p:nvSpPr>
        <p:spPr>
          <a:xfrm>
            <a:off x="7863840" y="3493008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Next Best Action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Priority logic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Approval state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10094976" y="1856232"/>
            <a:ext cx="196596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27" name="Shape 24"/>
          <p:cNvSpPr/>
          <p:nvPr/>
        </p:nvSpPr>
        <p:spPr>
          <a:xfrm>
            <a:off x="10094976" y="1856232"/>
            <a:ext cx="1965960" cy="91440"/>
          </a:xfrm>
          <a:prstGeom prst="rect">
            <a:avLst/>
          </a:prstGeom>
          <a:solidFill>
            <a:srgbClr val="DB5B5B"/>
          </a:solidFill>
          <a:ln w="12700">
            <a:solidFill>
              <a:srgbClr val="DB5B5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80776" y="2240280"/>
            <a:ext cx="594360" cy="594360"/>
          </a:xfrm>
          <a:prstGeom prst="rect">
            <a:avLst/>
          </a:prstGeom>
          <a:solidFill>
            <a:srgbClr val="DB5B5B"/>
          </a:solidFill>
          <a:ln>
            <a:solidFill>
              <a:srgbClr val="DB5B5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232136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B5B5B"/>
                </a:solidFill>
              </a:rPr>
              <a:t>STREAMLIT APP</a:t>
            </a:r>
            <a:endParaRPr lang="en-US" sz="1130" dirty="0"/>
          </a:p>
        </p:txBody>
      </p:sp>
      <p:sp>
        <p:nvSpPr>
          <p:cNvPr id="30" name="Text 27"/>
          <p:cNvSpPr/>
          <p:nvPr/>
        </p:nvSpPr>
        <p:spPr>
          <a:xfrm>
            <a:off x="10277856" y="3493008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Portfolio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Customer 360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AI workspace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Action flow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960120" y="5513832"/>
            <a:ext cx="10287000" cy="411480"/>
          </a:xfrm>
          <a:prstGeom prst="roundRect">
            <a:avLst/>
          </a:prstGeom>
          <a:solidFill>
            <a:srgbClr val="EFF8FB"/>
          </a:solidFill>
          <a:ln w="12700">
            <a:solidFill>
              <a:srgbClr val="C5E7F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34440" y="5632704"/>
            <a:ext cx="9738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202729"/>
                </a:solidFill>
              </a:rPr>
              <a:t>CoCo CLI accelerated SQL/code iteration, troubleshooting and documentation across the prototype lifecycle.</a:t>
            </a:r>
            <a:endParaRPr lang="en-US" sz="11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4. Data Foundation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Five data domains create a reusable Customer 360 and interaction timeline.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92024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7" name="Text 4"/>
          <p:cNvSpPr/>
          <p:nvPr/>
        </p:nvSpPr>
        <p:spPr>
          <a:xfrm>
            <a:off x="1216152" y="2212848"/>
            <a:ext cx="630936" cy="630936"/>
          </a:xfrm>
          <a:prstGeom prst="rect">
            <a:avLst/>
          </a:prstGeom>
          <a:solidFill>
            <a:srgbClr val="118FC4"/>
          </a:solidFill>
          <a:ln>
            <a:solidFill>
              <a:srgbClr val="118FC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8FC4"/>
                </a:solidFill>
              </a:rPr>
              <a:t>CUSTOMER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" y="3364992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36471"/>
                </a:solidFill>
              </a:rPr>
              <a:t>Profile and relationship context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2816352" y="192024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1" name="Text 8"/>
          <p:cNvSpPr/>
          <p:nvPr/>
        </p:nvSpPr>
        <p:spPr>
          <a:xfrm>
            <a:off x="3529584" y="2212848"/>
            <a:ext cx="630936" cy="630936"/>
          </a:xfrm>
          <a:prstGeom prst="rect">
            <a:avLst/>
          </a:prstGeom>
          <a:solidFill>
            <a:srgbClr val="1C9A77"/>
          </a:solidFill>
          <a:ln>
            <a:solidFill>
              <a:srgbClr val="1C9A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53512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9A77"/>
                </a:solidFill>
              </a:rPr>
              <a:t>POLICY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980944" y="3364992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36471"/>
                </a:solidFill>
              </a:rPr>
              <a:t>Coverage, premium and renewals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5129784" y="192024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5" name="Text 12"/>
          <p:cNvSpPr/>
          <p:nvPr/>
        </p:nvSpPr>
        <p:spPr>
          <a:xfrm>
            <a:off x="5843016" y="2212848"/>
            <a:ext cx="630936" cy="630936"/>
          </a:xfrm>
          <a:prstGeom prst="rect">
            <a:avLst/>
          </a:prstGeom>
          <a:solidFill>
            <a:srgbClr val="DB5B5B"/>
          </a:solidFill>
          <a:ln>
            <a:solidFill>
              <a:srgbClr val="DB5B5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66944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B5B5B"/>
                </a:solidFill>
              </a:rPr>
              <a:t>CLAIMS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94376" y="3364992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36471"/>
                </a:solidFill>
              </a:rPr>
              <a:t>Status, amount and resolution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7443216" y="192024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9" name="Text 16"/>
          <p:cNvSpPr/>
          <p:nvPr/>
        </p:nvSpPr>
        <p:spPr>
          <a:xfrm>
            <a:off x="8156448" y="2212848"/>
            <a:ext cx="630936" cy="630936"/>
          </a:xfrm>
          <a:prstGeom prst="rect">
            <a:avLst/>
          </a:prstGeom>
          <a:solidFill>
            <a:srgbClr val="E8A11A"/>
          </a:solidFill>
          <a:ln>
            <a:solidFill>
              <a:srgbClr val="E8A1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80376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11A"/>
                </a:solidFill>
              </a:rPr>
              <a:t>PAYMENTS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07808" y="3364992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36471"/>
                </a:solidFill>
              </a:rPr>
              <a:t>Transactions and overdue signals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9756648" y="192024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23" name="Text 20"/>
          <p:cNvSpPr/>
          <p:nvPr/>
        </p:nvSpPr>
        <p:spPr>
          <a:xfrm>
            <a:off x="10469880" y="2212848"/>
            <a:ext cx="630936" cy="630936"/>
          </a:xfrm>
          <a:prstGeom prst="rect">
            <a:avLst/>
          </a:prstGeom>
          <a:solidFill>
            <a:srgbClr val="07131E"/>
          </a:solidFill>
          <a:ln>
            <a:solidFill>
              <a:srgbClr val="07131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893808" y="3054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31E"/>
                </a:solidFill>
              </a:rPr>
              <a:t>TRANSCRIPTS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921240" y="3364992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36471"/>
                </a:solidFill>
              </a:rPr>
              <a:t>Customer calls and concerns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1097280" y="4270248"/>
            <a:ext cx="9966960" cy="1"/>
          </a:xfrm>
          <a:prstGeom prst="line">
            <a:avLst/>
          </a:prstGeom>
          <a:noFill/>
          <a:ln w="25400">
            <a:solidFill>
              <a:srgbClr val="00BFF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487168" y="4572000"/>
            <a:ext cx="7223760" cy="1078992"/>
          </a:xfrm>
          <a:prstGeom prst="roundRect">
            <a:avLst/>
          </a:prstGeom>
          <a:solidFill>
            <a:srgbClr val="EFF8FB"/>
          </a:solidFill>
          <a:ln w="12700">
            <a:solidFill>
              <a:srgbClr val="BFE6F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52928" y="482803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8FC4"/>
                </a:solidFill>
              </a:rPr>
              <a:t>UNIFIED CUSTOMER 360 LAYER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2816352" y="5157216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2729"/>
                </a:solidFill>
              </a:rPr>
              <a:t>Decision-ready SQL views connect customer facts, financial signals and interaction history.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5. AI Intelligence Layer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How Cortex AI transforms customer context into explainable guidance.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901952"/>
            <a:ext cx="235915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7" name="Shape 4"/>
          <p:cNvSpPr/>
          <p:nvPr/>
        </p:nvSpPr>
        <p:spPr>
          <a:xfrm>
            <a:off x="566928" y="1901952"/>
            <a:ext cx="64008" cy="3246120"/>
          </a:xfrm>
          <a:prstGeom prst="rect">
            <a:avLst/>
          </a:prstGeom>
          <a:solidFill>
            <a:srgbClr val="118FC4"/>
          </a:solidFill>
          <a:ln w="12700">
            <a:solidFill>
              <a:srgbClr val="118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18FC4"/>
                </a:solidFill>
              </a:rPr>
              <a:t>INPUT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9808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Context package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2816352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Customer call transcript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Policy, claim and payment context</a:t>
            </a:r>
            <a:endParaRPr lang="en-US" sz="1170" dirty="0"/>
          </a:p>
        </p:txBody>
      </p:sp>
      <p:sp>
        <p:nvSpPr>
          <p:cNvPr id="11" name="Shape 8"/>
          <p:cNvSpPr/>
          <p:nvPr/>
        </p:nvSpPr>
        <p:spPr>
          <a:xfrm>
            <a:off x="3364992" y="1901952"/>
            <a:ext cx="3154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84448" y="20482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9A77"/>
                </a:solidFill>
              </a:rPr>
              <a:t>SENTIMENT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64608" y="20208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729"/>
                </a:solidFill>
              </a:rPr>
              <a:t>Tone and urgency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3364992" y="2532888"/>
            <a:ext cx="3154680" cy="475488"/>
          </a:xfrm>
          <a:prstGeom prst="roundRect">
            <a:avLst/>
          </a:prstGeom>
          <a:solidFill>
            <a:srgbClr val="F7FAFB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84448" y="26791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9A77"/>
                </a:solidFill>
              </a:rPr>
              <a:t>SUMMARY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64608" y="26517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729"/>
                </a:solidFill>
              </a:rPr>
              <a:t>Concise context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3364992" y="3163824"/>
            <a:ext cx="3154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84448" y="33101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9A77"/>
                </a:solidFill>
              </a:rPr>
              <a:t>EXECUTIVE BRIEF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64608" y="32826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729"/>
                </a:solidFill>
              </a:rPr>
              <a:t>Cross-domain snapshot</a:t>
            </a:r>
            <a:endParaRPr lang="en-US" sz="1130" dirty="0"/>
          </a:p>
        </p:txBody>
      </p:sp>
      <p:sp>
        <p:nvSpPr>
          <p:cNvPr id="20" name="Shape 17"/>
          <p:cNvSpPr/>
          <p:nvPr/>
        </p:nvSpPr>
        <p:spPr>
          <a:xfrm>
            <a:off x="3364992" y="3794760"/>
            <a:ext cx="3154680" cy="475488"/>
          </a:xfrm>
          <a:prstGeom prst="roundRect">
            <a:avLst/>
          </a:prstGeom>
          <a:solidFill>
            <a:srgbClr val="F7FAFB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84448" y="39410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9A77"/>
                </a:solidFill>
              </a:rPr>
              <a:t>Q&amp;A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64608" y="39136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729"/>
                </a:solidFill>
              </a:rPr>
              <a:t>Natural-language answers</a:t>
            </a:r>
            <a:endParaRPr lang="en-US" sz="1130" dirty="0"/>
          </a:p>
        </p:txBody>
      </p:sp>
      <p:sp>
        <p:nvSpPr>
          <p:cNvPr id="23" name="Shape 20"/>
          <p:cNvSpPr/>
          <p:nvPr/>
        </p:nvSpPr>
        <p:spPr>
          <a:xfrm>
            <a:off x="3364992" y="4425696"/>
            <a:ext cx="3154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84448" y="45720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11A"/>
                </a:solidFill>
              </a:rPr>
              <a:t>NBA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64608" y="45445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729"/>
                </a:solidFill>
              </a:rPr>
              <a:t>Recommended follow-up</a:t>
            </a:r>
            <a:endParaRPr lang="en-US" sz="1130" dirty="0"/>
          </a:p>
        </p:txBody>
      </p:sp>
      <p:sp>
        <p:nvSpPr>
          <p:cNvPr id="26" name="Shape 23"/>
          <p:cNvSpPr/>
          <p:nvPr/>
        </p:nvSpPr>
        <p:spPr>
          <a:xfrm>
            <a:off x="6967728" y="1901952"/>
            <a:ext cx="464515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27" name="Shape 24"/>
          <p:cNvSpPr/>
          <p:nvPr/>
        </p:nvSpPr>
        <p:spPr>
          <a:xfrm>
            <a:off x="6967728" y="1901952"/>
            <a:ext cx="64008" cy="3246120"/>
          </a:xfrm>
          <a:prstGeom prst="rect">
            <a:avLst/>
          </a:prstGeom>
          <a:solidFill>
            <a:srgbClr val="E8A11A"/>
          </a:solidFill>
          <a:ln w="12700">
            <a:solidFill>
              <a:srgbClr val="E8A1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50608" y="204825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11A"/>
                </a:solidFill>
              </a:rPr>
              <a:t>AGENT OUTPUT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150608" y="2331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Explainable guidance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150608" y="2816352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✓ What changed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✓ Why it matters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✓ What to do next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✓ Approval-ready action</a:t>
            </a:r>
            <a:endParaRPr lang="en-US" sz="1170" dirty="0"/>
          </a:p>
        </p:txBody>
      </p:sp>
      <p:sp>
        <p:nvSpPr>
          <p:cNvPr id="31" name="Text 28"/>
          <p:cNvSpPr/>
          <p:nvPr/>
        </p:nvSpPr>
        <p:spPr>
          <a:xfrm>
            <a:off x="7296912" y="46085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536471"/>
                </a:solidFill>
              </a:rPr>
              <a:t>AI supports the decision. The approval step keeps the final action explicit and governed.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6. Why Insure360 AI Stands Out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Not a standalone chatbot. A complete journey from data to decision to action.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1901952"/>
            <a:ext cx="5074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7" name="Shape 4"/>
          <p:cNvSpPr/>
          <p:nvPr/>
        </p:nvSpPr>
        <p:spPr>
          <a:xfrm>
            <a:off x="621792" y="1901952"/>
            <a:ext cx="64008" cy="3337560"/>
          </a:xfrm>
          <a:prstGeom prst="rect">
            <a:avLst/>
          </a:prstGeom>
          <a:solidFill>
            <a:srgbClr val="DB5B5B"/>
          </a:solidFill>
          <a:ln w="12700">
            <a:solidFill>
              <a:srgbClr val="DB5B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048256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B5B5B"/>
                </a:solidFill>
              </a:rPr>
              <a:t>TRADITIONAL EXPERIENCE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233172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Fragmented and manual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2816352"/>
            <a:ext cx="47274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× Multiple screens and records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× Manual transcript interpretation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× No connected recommendation workflow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× Inconsistent agent decisions</a:t>
            </a:r>
            <a:endParaRPr lang="en-US" sz="1170" dirty="0"/>
          </a:p>
        </p:txBody>
      </p:sp>
      <p:sp>
        <p:nvSpPr>
          <p:cNvPr id="11" name="Shape 8"/>
          <p:cNvSpPr/>
          <p:nvPr/>
        </p:nvSpPr>
        <p:spPr>
          <a:xfrm>
            <a:off x="6492240" y="1901952"/>
            <a:ext cx="5074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2" name="Shape 9"/>
          <p:cNvSpPr/>
          <p:nvPr/>
        </p:nvSpPr>
        <p:spPr>
          <a:xfrm>
            <a:off x="6492240" y="1901952"/>
            <a:ext cx="64008" cy="3337560"/>
          </a:xfrm>
          <a:prstGeom prst="rect">
            <a:avLst/>
          </a:prstGeom>
          <a:solidFill>
            <a:srgbClr val="1C9A77"/>
          </a:solidFill>
          <a:ln w="12700">
            <a:solidFill>
              <a:srgbClr val="1C9A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048256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9A77"/>
                </a:solidFill>
              </a:rPr>
              <a:t>INSURE360 AI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75120" y="233172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Connected and actionable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75120" y="2816352"/>
            <a:ext cx="47274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✓ One Customer 360 workspace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✓ Structured + unstructured context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✓ AI summary, Q&amp;A and Next Best Action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✓ Approval-oriented follow-up</a:t>
            </a:r>
            <a:endParaRPr lang="en-US" sz="1170" dirty="0"/>
          </a:p>
        </p:txBody>
      </p:sp>
      <p:sp>
        <p:nvSpPr>
          <p:cNvPr id="16" name="Shape 13"/>
          <p:cNvSpPr/>
          <p:nvPr/>
        </p:nvSpPr>
        <p:spPr>
          <a:xfrm>
            <a:off x="2057400" y="5559552"/>
            <a:ext cx="8092440" cy="402336"/>
          </a:xfrm>
          <a:prstGeom prst="roundRect">
            <a:avLst/>
          </a:prstGeom>
          <a:solidFill>
            <a:srgbClr val="07131E"/>
          </a:solidFill>
          <a:ln w="12700">
            <a:solidFill>
              <a:srgbClr val="0713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31720" y="5678424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</a:rPr>
              <a:t>Differentiator: insight generation is connected to a visible, governed action workflow.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7. Prototype: Monitor the Portfolio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Surface customer risk and operational signals before the next interaction.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1847088"/>
            <a:ext cx="8229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pic>
        <p:nvPicPr>
          <p:cNvPr id="7" name="Image 1" descr="/mnt/data/Screenshot 2026-09-17 1435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985609"/>
            <a:ext cx="8046720" cy="34719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560527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729"/>
                </a:solidFill>
              </a:rPr>
              <a:t>Portfolio analytics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997696" y="1847088"/>
            <a:ext cx="263347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0" name="Shape 6"/>
          <p:cNvSpPr/>
          <p:nvPr/>
        </p:nvSpPr>
        <p:spPr>
          <a:xfrm>
            <a:off x="8997696" y="1847088"/>
            <a:ext cx="64008" cy="4069080"/>
          </a:xfrm>
          <a:prstGeom prst="rect">
            <a:avLst/>
          </a:prstGeom>
          <a:solidFill>
            <a:srgbClr val="118FC4"/>
          </a:solidFill>
          <a:ln w="12700">
            <a:solidFill>
              <a:srgbClr val="118FC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80576" y="19933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18FC4"/>
                </a:solidFill>
              </a:rPr>
              <a:t>JUDGE VIEW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9180576" y="22768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What to notice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180576" y="2761488"/>
            <a:ext cx="2286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Portfolio metrics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Risk distribution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Claims, payment and renewal signals</a:t>
            </a:r>
            <a:endParaRPr lang="en-US" sz="11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8. Prototype: Understand the Customer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Bring profile, timeline and AI-generated context into one decision view.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1847088"/>
            <a:ext cx="8229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pic>
        <p:nvPicPr>
          <p:cNvPr id="7" name="Image 1" descr="/mnt/data/Screenshot 2026-09-17 1436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938528"/>
            <a:ext cx="777240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560527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729"/>
                </a:solidFill>
              </a:rPr>
              <a:t>Customer 360, timeline and AI summary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997696" y="1847088"/>
            <a:ext cx="263347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0" name="Shape 6"/>
          <p:cNvSpPr/>
          <p:nvPr/>
        </p:nvSpPr>
        <p:spPr>
          <a:xfrm>
            <a:off x="8997696" y="1847088"/>
            <a:ext cx="64008" cy="4069080"/>
          </a:xfrm>
          <a:prstGeom prst="rect">
            <a:avLst/>
          </a:prstGeom>
          <a:solidFill>
            <a:srgbClr val="1C9A77"/>
          </a:solidFill>
          <a:ln w="12700">
            <a:solidFill>
              <a:srgbClr val="1C9A7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80576" y="19933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9A77"/>
                </a:solidFill>
              </a:rPr>
              <a:t>CUSTOMER 360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9180576" y="22768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Decision context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180576" y="2761488"/>
            <a:ext cx="2286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Customer details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Interaction timeline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AI summary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Grounded recommendation</a:t>
            </a:r>
            <a:endParaRPr lang="en-US" sz="11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9. Prototype: Assist and Act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Convert customer context into a recommendation and approval-ready action.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" y="1847088"/>
            <a:ext cx="555955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pic>
        <p:nvPicPr>
          <p:cNvPr id="7" name="Image 1" descr="/mnt/data/Screenshot 2026-09-17 1436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564864"/>
            <a:ext cx="5376672" cy="2267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6072" y="5559552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729"/>
                </a:solidFill>
              </a:rPr>
              <a:t>Next Best Action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199632" y="1847088"/>
            <a:ext cx="555955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pic>
        <p:nvPicPr>
          <p:cNvPr id="10" name="Image 2" descr="/mnt/data/Screenshot 2026-09-17 1436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532622"/>
            <a:ext cx="5376672" cy="23322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36792" y="5559552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729"/>
                </a:solidFill>
              </a:rPr>
              <a:t>Executive Brief, Q&amp;A and Approval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7498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729"/>
                </a:solidFill>
              </a:rPr>
              <a:t>10. Impact and Scale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496" y="120700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36471"/>
                </a:solidFill>
              </a:rPr>
              <a:t>Expected value today, with a path from prototype to operational adoption.</a:t>
            </a:r>
            <a:endParaRPr lang="en-US" sz="1130" dirty="0"/>
          </a:p>
        </p:txBody>
      </p:sp>
      <p:sp>
        <p:nvSpPr>
          <p:cNvPr id="5" name="Shape 2"/>
          <p:cNvSpPr/>
          <p:nvPr/>
        </p:nvSpPr>
        <p:spPr>
          <a:xfrm>
            <a:off x="530352" y="1554480"/>
            <a:ext cx="11082528" cy="1"/>
          </a:xfrm>
          <a:prstGeom prst="line">
            <a:avLst/>
          </a:prstGeom>
          <a:noFill/>
          <a:ln w="19050">
            <a:solidFill>
              <a:srgbClr val="00BF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1847088"/>
            <a:ext cx="3529584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7" name="Shape 4"/>
          <p:cNvSpPr/>
          <p:nvPr/>
        </p:nvSpPr>
        <p:spPr>
          <a:xfrm>
            <a:off x="530352" y="1847088"/>
            <a:ext cx="64008" cy="2084832"/>
          </a:xfrm>
          <a:prstGeom prst="rect">
            <a:avLst/>
          </a:prstGeom>
          <a:solidFill>
            <a:srgbClr val="1C9A77"/>
          </a:solidFill>
          <a:ln w="12700">
            <a:solidFill>
              <a:srgbClr val="1C9A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993392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9A77"/>
                </a:solidFill>
              </a:rPr>
              <a:t>OUTCOME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3232" y="227685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Faster understanding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2761488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A unified view reduces manual context gathering before customer engagement.</a:t>
            </a:r>
            <a:endParaRPr lang="en-US" sz="1170" dirty="0"/>
          </a:p>
        </p:txBody>
      </p:sp>
      <p:sp>
        <p:nvSpPr>
          <p:cNvPr id="11" name="Shape 8"/>
          <p:cNvSpPr/>
          <p:nvPr/>
        </p:nvSpPr>
        <p:spPr>
          <a:xfrm>
            <a:off x="4334256" y="1847088"/>
            <a:ext cx="3529584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2" name="Shape 9"/>
          <p:cNvSpPr/>
          <p:nvPr/>
        </p:nvSpPr>
        <p:spPr>
          <a:xfrm>
            <a:off x="4334256" y="1847088"/>
            <a:ext cx="64008" cy="2084832"/>
          </a:xfrm>
          <a:prstGeom prst="rect">
            <a:avLst/>
          </a:prstGeom>
          <a:solidFill>
            <a:srgbClr val="118FC4"/>
          </a:solidFill>
          <a:ln w="12700">
            <a:solidFill>
              <a:srgbClr val="118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17136" y="1993392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18FC4"/>
                </a:solidFill>
              </a:rPr>
              <a:t>CONSISTENCY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17136" y="227685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Guided decisions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17136" y="2761488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AI summaries and recommendations create a repeatable service experience.</a:t>
            </a:r>
            <a:endParaRPr lang="en-US" sz="1170" dirty="0"/>
          </a:p>
        </p:txBody>
      </p:sp>
      <p:sp>
        <p:nvSpPr>
          <p:cNvPr id="16" name="Shape 13"/>
          <p:cNvSpPr/>
          <p:nvPr/>
        </p:nvSpPr>
        <p:spPr>
          <a:xfrm>
            <a:off x="8138160" y="1847088"/>
            <a:ext cx="3529584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4E9"/>
            </a:solidFill>
            <a:prstDash val="solid"/>
          </a:ln>
          <a:effectLst/>
        </p:spPr>
      </p:sp>
      <p:sp>
        <p:nvSpPr>
          <p:cNvPr id="17" name="Shape 14"/>
          <p:cNvSpPr/>
          <p:nvPr/>
        </p:nvSpPr>
        <p:spPr>
          <a:xfrm>
            <a:off x="8138160" y="1847088"/>
            <a:ext cx="64008" cy="2084832"/>
          </a:xfrm>
          <a:prstGeom prst="rect">
            <a:avLst/>
          </a:prstGeom>
          <a:solidFill>
            <a:srgbClr val="E8A11A"/>
          </a:solidFill>
          <a:ln w="12700">
            <a:solidFill>
              <a:srgbClr val="E8A1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1993392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11A"/>
                </a:solidFill>
              </a:rPr>
              <a:t>VISIBILITY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321040" y="227685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729"/>
                </a:solidFill>
              </a:rPr>
              <a:t>Earlier awareness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21040" y="2761488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471"/>
                </a:solidFill>
              </a:rPr>
              <a:t>Portfolio and customer views surface risk before the next interaction.</a:t>
            </a:r>
            <a:endParaRPr lang="en-US" sz="1170" dirty="0"/>
          </a:p>
        </p:txBody>
      </p:sp>
      <p:sp>
        <p:nvSpPr>
          <p:cNvPr id="21" name="Shape 18"/>
          <p:cNvSpPr/>
          <p:nvPr/>
        </p:nvSpPr>
        <p:spPr>
          <a:xfrm>
            <a:off x="713232" y="4590288"/>
            <a:ext cx="3401568" cy="1024128"/>
          </a:xfrm>
          <a:prstGeom prst="roundRect">
            <a:avLst/>
          </a:prstGeom>
          <a:solidFill>
            <a:srgbClr val="EFF8FB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" y="48554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8FC4"/>
                </a:solidFill>
              </a:rPr>
              <a:t>REUSE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947672" y="4809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729"/>
                </a:solidFill>
              </a:rPr>
              <a:t>Extend across products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480560" y="4590288"/>
            <a:ext cx="3401568" cy="1024128"/>
          </a:xfrm>
          <a:prstGeom prst="roundRect">
            <a:avLst/>
          </a:prstGeom>
          <a:solidFill>
            <a:srgbClr val="F7FAFB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9160" y="48554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8FC4"/>
                </a:solidFill>
              </a:rPr>
              <a:t>INTEGRATE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715000" y="4809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729"/>
                </a:solidFill>
              </a:rPr>
              <a:t>Connect to CRM workflows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247888" y="4590288"/>
            <a:ext cx="3401568" cy="1024128"/>
          </a:xfrm>
          <a:prstGeom prst="roundRect">
            <a:avLst/>
          </a:prstGeom>
          <a:solidFill>
            <a:srgbClr val="EFF8FB"/>
          </a:solidFill>
          <a:ln w="12700">
            <a:solidFill>
              <a:srgbClr val="D7E4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76488" y="48554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8FC4"/>
                </a:solidFill>
              </a:rPr>
              <a:t>LEARN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482328" y="4809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729"/>
                </a:solidFill>
              </a:rPr>
              <a:t>Refine using outcomes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ototype Submission Template _ CoCo CLI Hackathon GCC Edition/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54680" y="5623560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Cocoteam  |  Manideep Marka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154680" y="594360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CEF5"/>
                </a:solidFill>
              </a:rPr>
              <a:t>Insure360 AI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Insure360 AI - Template Faithful</dc:title>
  <dc:subject>PptxGenJS Presentation</dc:subject>
  <dc:creator>Manideep, Marka</dc:creator>
  <cp:lastModifiedBy>Manideep, Marka</cp:lastModifiedBy>
  <cp:revision>2</cp:revision>
  <dcterms:created xsi:type="dcterms:W3CDTF">2026-09-17T12:24:30Z</dcterms:created>
  <dcterms:modified xsi:type="dcterms:W3CDTF">2026-09-17T12:50:56Z</dcterms:modified>
</cp:coreProperties>
</file>